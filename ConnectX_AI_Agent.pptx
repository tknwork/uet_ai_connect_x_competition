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63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Shape 1"/>
          <p:cNvSpPr/>
          <p:nvPr/>
        </p:nvSpPr>
        <p:spPr>
          <a:xfrm>
            <a:off x="7650479" y="-2380827"/>
            <a:ext cx="4114800" cy="4114800"/>
          </a:xfrm>
          <a:prstGeom prst="ellipse">
            <a:avLst/>
          </a:prstGeom>
          <a:solidFill>
            <a:srgbClr val="162236"/>
          </a:solidFill>
          <a:ln/>
        </p:spPr>
      </p:sp>
      <p:sp>
        <p:nvSpPr>
          <p:cNvPr id="4" name="Shape 2"/>
          <p:cNvSpPr/>
          <p:nvPr/>
        </p:nvSpPr>
        <p:spPr>
          <a:xfrm>
            <a:off x="8125742" y="-1638639"/>
            <a:ext cx="3017520" cy="3017520"/>
          </a:xfrm>
          <a:prstGeom prst="ellipse">
            <a:avLst/>
          </a:prstGeom>
          <a:solidFill>
            <a:srgbClr val="00B4A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AI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chơi ConnectX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516265"/>
            <a:ext cx="3657600" cy="2286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18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</a:rPr>
              <a:t>Nhóm</a:t>
            </a:r>
            <a:r>
              <a:rPr lang="en-US" sz="1200" dirty="0">
                <a:solidFill>
                  <a:srgbClr val="CBD5E1"/>
                </a:solidFill>
              </a:rPr>
              <a:t>: UET_INT3401E1_1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Thành </a:t>
            </a:r>
            <a:r>
              <a:rPr lang="en-US" sz="1200" dirty="0" err="1">
                <a:solidFill>
                  <a:srgbClr val="CBD5E1"/>
                </a:solidFill>
              </a:rPr>
              <a:t>viên</a:t>
            </a:r>
            <a:r>
              <a:rPr lang="en-US" sz="1200" dirty="0">
                <a:solidFill>
                  <a:srgbClr val="CBD5E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 - 24021664 Nguyễn Khắc Tùng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 - 24021619 </a:t>
            </a:r>
            <a:r>
              <a:rPr lang="en-US" sz="1200" dirty="0" err="1">
                <a:solidFill>
                  <a:srgbClr val="CBD5E1"/>
                </a:solidFill>
              </a:rPr>
              <a:t>Trần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Mạnh</a:t>
            </a:r>
            <a:r>
              <a:rPr lang="en-US" sz="1200" dirty="0">
                <a:solidFill>
                  <a:srgbClr val="CBD5E1"/>
                </a:solidFill>
              </a:rPr>
              <a:t> Tân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 - 24021660 Bùi Hoàng Tùng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Môn học: Trí tuệ </a:t>
            </a:r>
            <a:r>
              <a:rPr lang="en-US" sz="1200" dirty="0" err="1">
                <a:solidFill>
                  <a:srgbClr val="CBD5E1"/>
                </a:solidFill>
              </a:rPr>
              <a:t>nhân</a:t>
            </a:r>
            <a:r>
              <a:rPr lang="en-US" sz="1200" dirty="0">
                <a:solidFill>
                  <a:srgbClr val="CBD5E1"/>
                </a:solidFill>
              </a:rPr>
              <a:t> </a:t>
            </a:r>
            <a:r>
              <a:rPr lang="en-US" sz="1200" dirty="0" err="1">
                <a:solidFill>
                  <a:srgbClr val="CBD5E1"/>
                </a:solidFill>
              </a:rPr>
              <a:t>tạo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48F6B1-DF33-F4CD-ADF7-5A4708C51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102" y="1378881"/>
            <a:ext cx="3753080" cy="34057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591056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664208"/>
            <a:ext cx="365760" cy="3657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6824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1664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ConnectX + Luật chơi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1168" y="2240280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2313432"/>
            <a:ext cx="365760" cy="3657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331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23134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gốc &amp; điểm yếu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01168" y="2889504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962656"/>
            <a:ext cx="365760" cy="3657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98094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" y="29626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cải tiến: Pipeline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1168" y="3538728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611880"/>
            <a:ext cx="365760" cy="3657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3630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hỗ trợ (Bitboard, TT, Move Ordering, Book)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01168" y="4187952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4261104"/>
            <a:ext cx="365760" cy="36576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427939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" y="42611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Alpha-Beta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1591056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664208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6824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48656" y="1664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Iterative Deepening + PVS + LMR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13432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331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48656" y="23134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Threat-based Heuristic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63440" y="2889504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62656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8094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48656" y="29626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MCTS vs Negamax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663440" y="3538728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611880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630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48656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qỉa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663440" y="4187952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4261104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27939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48656" y="42611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31200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ConnectX &amp; Luật chơi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16498" y="1187609"/>
            <a:ext cx="2514600" cy="1001407"/>
          </a:xfrm>
          <a:prstGeom prst="rect">
            <a:avLst/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498" y="1215041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</a:rPr>
              <a:t>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650" y="1535081"/>
            <a:ext cx="2377440" cy="27432"/>
          </a:xfrm>
          <a:prstGeom prst="rect">
            <a:avLst/>
          </a:prstGeom>
          <a:solidFill>
            <a:srgbClr val="185FA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16498" y="16248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board, mark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rows/cols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inarow, timeout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7986" y="1187609"/>
            <a:ext cx="2514600" cy="1001407"/>
          </a:xfrm>
          <a:prstGeom prst="rect">
            <a:avLst/>
          </a:prstGeom>
          <a:solidFill>
            <a:srgbClr val="E0F7F5"/>
          </a:solidFill>
          <a:ln w="1524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7986" y="1215041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</a:rPr>
              <a:t>AI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1138" y="1535081"/>
            <a:ext cx="2377440" cy="27432"/>
          </a:xfrm>
          <a:prstGeom prst="rect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77986" y="16248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Ra quyết định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trong giới hạn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thời gian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9474" y="1187609"/>
            <a:ext cx="2514600" cy="1001407"/>
          </a:xfrm>
          <a:prstGeom prst="rect">
            <a:avLst/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9474" y="1215041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</a:rPr>
              <a:t>Output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12626" y="1535081"/>
            <a:ext cx="2377440" cy="27432"/>
          </a:xfrm>
          <a:prstGeom prst="rect">
            <a:avLst/>
          </a:prstGeom>
          <a:solidFill>
            <a:srgbClr val="185FA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39474" y="16248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Chỉ số cột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cần đánh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31098" y="1626521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A6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10874" y="1626521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A6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4647" y="2453782"/>
            <a:ext cx="8741664" cy="100140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" y="2634445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trường: Kaggle ConnectX Environment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tốt nhất trong giới hạn thời gian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thay đổi liên tục qua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trực tiếp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sai cột đầy / ngoài phạm vi → thua ngay lập tức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" y="3875119"/>
            <a:ext cx="2103120" cy="964692"/>
          </a:xfrm>
          <a:prstGeom prst="rect">
            <a:avLst/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875119"/>
            <a:ext cx="2103120" cy="38404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" y="387511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Chọn cột hợp lệ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04887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Quân rơi xuống ô trống thấp nhất trong cột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41448" y="3875119"/>
            <a:ext cx="2103120" cy="964692"/>
          </a:xfrm>
          <a:prstGeom prst="rect">
            <a:avLst/>
          </a:prstGeom>
          <a:solidFill>
            <a:srgbClr val="E8F8E8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1448" y="3875119"/>
            <a:ext cx="210312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2441448" y="387511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Thắng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14600" y="4299344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Tạo K quân liên tiếp (ngang, dọc, chéo)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81728" y="3875119"/>
            <a:ext cx="2103120" cy="964692"/>
          </a:xfrm>
          <a:prstGeom prst="rect">
            <a:avLst/>
          </a:prstGeom>
          <a:solidFill>
            <a:srgbClr val="FEECE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3875119"/>
            <a:ext cx="2103120" cy="38404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387511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Thua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4304887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Đối thủ tạo K quân, hoặc đi sai nước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22008" y="3875119"/>
            <a:ext cx="2103120" cy="964692"/>
          </a:xfrm>
          <a:prstGeom prst="rect">
            <a:avLst/>
          </a:prstGeom>
          <a:solidFill>
            <a:srgbClr val="FFF8E1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22008" y="3875119"/>
            <a:ext cx="2103120" cy="38404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6" name="Text 34"/>
          <p:cNvSpPr/>
          <p:nvPr/>
        </p:nvSpPr>
        <p:spPr>
          <a:xfrm>
            <a:off x="6922008" y="387511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Hòa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95160" y="4304887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Bàn cờ đầy, không ai đạt K liên tiếp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999831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330990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gốc &amp; điểm yếu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7784" y="1406372"/>
            <a:ext cx="777240" cy="6858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784" y="1406372"/>
            <a:ext cx="777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Kaggle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9423" y="1589252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A6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0887" y="1406372"/>
            <a:ext cx="777240" cy="685800"/>
          </a:xfrm>
          <a:prstGeom prst="rect">
            <a:avLst/>
          </a:prstGeom>
          <a:solidFill>
            <a:srgbClr val="E6F1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0887" y="1442948"/>
            <a:ext cx="777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Board 2D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numpy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3311" y="1584680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A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83707" y="1397288"/>
            <a:ext cx="777240" cy="685800"/>
          </a:xfrm>
          <a:prstGeom prst="rect">
            <a:avLst/>
          </a:prstGeom>
          <a:solidFill>
            <a:srgbClr val="E6F1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3497" y="1442948"/>
            <a:ext cx="777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Center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Opening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00092" y="1584680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A6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31759" y="1406372"/>
            <a:ext cx="777240" cy="685800"/>
          </a:xfrm>
          <a:prstGeom prst="rect">
            <a:avLst/>
          </a:prstGeom>
          <a:solidFill>
            <a:srgbClr val="E6F1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1759" y="1442948"/>
            <a:ext cx="777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Win/Block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</a:rPr>
              <a:t>ngay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92341" y="1589252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A6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7139" y="1398572"/>
            <a:ext cx="777240" cy="685800"/>
          </a:xfrm>
          <a:prstGeom prst="rect">
            <a:avLst/>
          </a:prstGeom>
          <a:solidFill>
            <a:srgbClr val="E0F7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99460" y="1442948"/>
            <a:ext cx="777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B80"/>
                </a:solidFill>
              </a:rPr>
              <a:t>MCTS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8B80"/>
                </a:solidFill>
              </a:rPr>
              <a:t>early/mid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72509" y="1399250"/>
            <a:ext cx="777240" cy="685800"/>
          </a:xfrm>
          <a:prstGeom prst="rect">
            <a:avLst/>
          </a:prstGeom>
          <a:solidFill>
            <a:srgbClr val="E0F7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67161" y="1442948"/>
            <a:ext cx="777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B80"/>
                </a:solidFill>
              </a:rPr>
              <a:t>Minimax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8B80"/>
                </a:solidFill>
              </a:rPr>
              <a:t>+AB 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79868" y="1589252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A6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03977" y="1406926"/>
            <a:ext cx="777240" cy="685800"/>
          </a:xfrm>
          <a:prstGeom prst="rect">
            <a:avLst/>
          </a:prstGeom>
          <a:solidFill>
            <a:srgbClr val="00B4A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1557" y="1442948"/>
            <a:ext cx="777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8233" y="2191030"/>
            <a:ext cx="4457839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6249" y="22293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Heuristic: window-counting — đánh giá chuỗi gần thắng + ưu tiên cột giữa</a:t>
            </a:r>
            <a:endParaRPr lang="en-US" sz="1100" dirty="0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673FC32-B72A-D338-C349-BBAB8D97DC87}"/>
              </a:ext>
            </a:extLst>
          </p:cNvPr>
          <p:cNvSpPr/>
          <p:nvPr/>
        </p:nvSpPr>
        <p:spPr>
          <a:xfrm>
            <a:off x="209819" y="2697339"/>
            <a:ext cx="8160890" cy="192799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4" name="Shape 30">
            <a:extLst>
              <a:ext uri="{FF2B5EF4-FFF2-40B4-BE49-F238E27FC236}">
                <a16:creationId xmlns:a16="http://schemas.microsoft.com/office/drawing/2014/main" id="{0B90809C-5724-9C85-D1BF-4AF391C3028F}"/>
              </a:ext>
            </a:extLst>
          </p:cNvPr>
          <p:cNvSpPr/>
          <p:nvPr/>
        </p:nvSpPr>
        <p:spPr>
          <a:xfrm>
            <a:off x="209819" y="2673937"/>
            <a:ext cx="885858" cy="313361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12A446E3-9998-FEFA-492E-D8A178D5A726}"/>
              </a:ext>
            </a:extLst>
          </p:cNvPr>
          <p:cNvSpPr/>
          <p:nvPr/>
        </p:nvSpPr>
        <p:spPr>
          <a:xfrm>
            <a:off x="198457" y="2673937"/>
            <a:ext cx="885858" cy="38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Điểm yếu</a:t>
            </a: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EC2A72-87D9-FC3E-8506-1884DA3D4A6B}"/>
              </a:ext>
            </a:extLst>
          </p:cNvPr>
          <p:cNvSpPr txBox="1"/>
          <p:nvPr/>
        </p:nvSpPr>
        <p:spPr>
          <a:xfrm>
            <a:off x="416584" y="3147860"/>
            <a:ext cx="77987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sz="1100" dirty="0"/>
          </a:p>
          <a:p>
            <a:pPr marL="171450" indent="-171450">
              <a:buFontTx/>
              <a:buChar char="-"/>
            </a:pPr>
            <a:r>
              <a:rPr lang="en-US" sz="1100" b="1" dirty="0"/>
              <a:t>R</a:t>
            </a:r>
            <a:r>
              <a:rPr lang="vi-VN" sz="1100" b="1" dirty="0"/>
              <a:t>ollout ngẫu nhiên</a:t>
            </a:r>
            <a:r>
              <a:rPr lang="vi-VN" sz="1100" dirty="0"/>
              <a:t> nên kết quả thiếu ổn định. </a:t>
            </a:r>
            <a:endParaRPr lang="en-US" sz="1100" dirty="0"/>
          </a:p>
          <a:p>
            <a:pPr marL="171450" indent="-171450">
              <a:buFontTx/>
              <a:buChar char="-"/>
            </a:pPr>
            <a:r>
              <a:rPr lang="vi-VN" sz="1100" b="1" dirty="0"/>
              <a:t>Heuristic đơn giản</a:t>
            </a:r>
            <a:r>
              <a:rPr lang="vi-VN" sz="1100" dirty="0"/>
              <a:t> khiến agent dễ đánh giá sai các threat quan trọng, ví dụ không chặn kịp nước thắng của đối thủ. </a:t>
            </a:r>
            <a:endParaRPr lang="en-US" sz="1100" dirty="0"/>
          </a:p>
          <a:p>
            <a:pPr marL="171450" indent="-171450">
              <a:buFontTx/>
              <a:buChar char="-"/>
            </a:pPr>
            <a:r>
              <a:rPr lang="vi-VN" sz="1100" b="1" dirty="0"/>
              <a:t>Depth cố định</a:t>
            </a:r>
            <a:r>
              <a:rPr lang="vi-VN" sz="1100" dirty="0"/>
              <a:t> làm khó cân bằng giữa tốc độ và độ chính xác: depth thấp thì nhìn ngắn, depth cao thì chậm.</a:t>
            </a:r>
            <a:endParaRPr lang="en-US" sz="1100" dirty="0"/>
          </a:p>
          <a:p>
            <a:pPr marL="171450" indent="-171450">
              <a:buFontTx/>
              <a:buChar char="-"/>
            </a:pPr>
            <a:r>
              <a:rPr lang="en-US" sz="1100" b="1" dirty="0"/>
              <a:t>B</a:t>
            </a:r>
            <a:r>
              <a:rPr lang="vi-VN" sz="1100" b="1" dirty="0"/>
              <a:t>oard 2D và nhiều vòng lặp</a:t>
            </a:r>
            <a:r>
              <a:rPr lang="vi-VN" sz="1100" dirty="0"/>
              <a:t> khiến search sâu tốn thời gian. </a:t>
            </a:r>
            <a:endParaRPr lang="en-US" sz="1100" dirty="0"/>
          </a:p>
          <a:p>
            <a:pPr marL="171450" indent="-171450">
              <a:buFontTx/>
              <a:buChar char="-"/>
            </a:pPr>
            <a:r>
              <a:rPr lang="vi-VN" sz="1100" b="1" dirty="0"/>
              <a:t>không có Transposition Table</a:t>
            </a:r>
            <a:r>
              <a:rPr lang="vi-VN" sz="1100" dirty="0"/>
              <a:t>, thuật toán phải tính lại các trạng thái đã gặp. </a:t>
            </a:r>
            <a:endParaRPr lang="en-US" sz="1100" dirty="0"/>
          </a:p>
        </p:txBody>
      </p:sp>
      <p:sp>
        <p:nvSpPr>
          <p:cNvPr id="58" name="Text 18"/>
          <p:cNvSpPr/>
          <p:nvPr/>
        </p:nvSpPr>
        <p:spPr>
          <a:xfrm>
            <a:off x="5675472" y="1584680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A6"/>
                </a:solidFill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cải tiến: Pipeline tổng quan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054" y="1536192"/>
            <a:ext cx="1152144" cy="713232"/>
          </a:xfrm>
          <a:prstGeom prst="rect">
            <a:avLst/>
          </a:prstGeom>
          <a:solidFill>
            <a:srgbClr val="0D1B2A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054" y="157276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35638" y="17190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A6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6806" y="1538409"/>
            <a:ext cx="1152144" cy="713232"/>
          </a:xfrm>
          <a:prstGeom prst="rect">
            <a:avLst/>
          </a:prstGeom>
          <a:solidFill>
            <a:srgbClr val="185FA5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6806" y="1574985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Bitboard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6×7/K=4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80390" y="17190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A6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5114" y="1536192"/>
            <a:ext cx="1152144" cy="713232"/>
          </a:xfrm>
          <a:prstGeom prst="rect">
            <a:avLst/>
          </a:prstGeom>
          <a:solidFill>
            <a:srgbClr val="185FA5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5114" y="157276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+ Book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76888" y="1719072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A6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6246" y="1527048"/>
            <a:ext cx="1152144" cy="713232"/>
          </a:xfrm>
          <a:prstGeom prst="rect">
            <a:avLst/>
          </a:prstGeom>
          <a:solidFill>
            <a:srgbClr val="008B8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6246" y="156362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Win/Block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Safe filter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69223" y="1709928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A6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2586" y="1536192"/>
            <a:ext cx="1152144" cy="713232"/>
          </a:xfrm>
          <a:prstGeom prst="rect">
            <a:avLst/>
          </a:prstGeom>
          <a:solidFill>
            <a:srgbClr val="008B8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2586" y="157276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Negamax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AB + 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34416" y="1698013"/>
            <a:ext cx="10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A6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58926" y="1536192"/>
            <a:ext cx="1152144" cy="713232"/>
          </a:xfrm>
          <a:prstGeom prst="rect">
            <a:avLst/>
          </a:prstGeom>
          <a:solidFill>
            <a:srgbClr val="00B4A6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8926" y="1572768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0523" y="2414016"/>
            <a:ext cx="3090669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0524" y="2414016"/>
            <a:ext cx="50292" cy="10972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8" name="Text 26"/>
          <p:cNvSpPr/>
          <p:nvPr/>
        </p:nvSpPr>
        <p:spPr>
          <a:xfrm>
            <a:off x="1075116" y="2505456"/>
            <a:ext cx="28263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Bitboard + Transposition Table + Symmetry</a:t>
            </a:r>
            <a:endParaRPr lang="en-US" sz="1150" b="1" dirty="0"/>
          </a:p>
        </p:txBody>
      </p:sp>
      <p:sp>
        <p:nvSpPr>
          <p:cNvPr id="29" name="Text 27"/>
          <p:cNvSpPr/>
          <p:nvPr/>
        </p:nvSpPr>
        <p:spPr>
          <a:xfrm>
            <a:off x="1075116" y="2889504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/>
              <a:t>Biểu</a:t>
            </a:r>
            <a:r>
              <a:rPr lang="en-US" sz="1100" dirty="0"/>
              <a:t> </a:t>
            </a:r>
            <a:r>
              <a:rPr lang="en-US" sz="1100" dirty="0" err="1"/>
              <a:t>diễn</a:t>
            </a:r>
            <a:r>
              <a:rPr lang="en-US" sz="1100" dirty="0"/>
              <a:t> </a:t>
            </a:r>
            <a:r>
              <a:rPr lang="en-US" sz="1100" dirty="0" err="1"/>
              <a:t>tối</a:t>
            </a:r>
            <a:r>
              <a:rPr lang="en-US" sz="1100" dirty="0"/>
              <a:t> </a:t>
            </a:r>
            <a:r>
              <a:rPr lang="en-US" sz="1100" dirty="0" err="1"/>
              <a:t>ưu</a:t>
            </a:r>
            <a:r>
              <a:rPr lang="en-US" sz="1100" dirty="0"/>
              <a:t> </a:t>
            </a:r>
            <a:r>
              <a:rPr lang="en-US" sz="1100" dirty="0" err="1"/>
              <a:t>bàn</a:t>
            </a:r>
            <a:r>
              <a:rPr lang="en-US" sz="1100" dirty="0"/>
              <a:t> </a:t>
            </a:r>
            <a:r>
              <a:rPr lang="en-US" sz="1100" dirty="0" err="1"/>
              <a:t>cờ</a:t>
            </a:r>
            <a:r>
              <a:rPr lang="en-US" sz="1100" dirty="0"/>
              <a:t>, </a:t>
            </a:r>
            <a:r>
              <a:rPr lang="en-US" sz="1100" dirty="0" err="1"/>
              <a:t>lưu</a:t>
            </a:r>
            <a:r>
              <a:rPr lang="en-US" sz="1100" dirty="0"/>
              <a:t> </a:t>
            </a:r>
            <a:r>
              <a:rPr lang="en-US" sz="1100" dirty="0" err="1"/>
              <a:t>trạng</a:t>
            </a:r>
            <a:r>
              <a:rPr lang="en-US" sz="1100" dirty="0"/>
              <a:t> </a:t>
            </a:r>
            <a:r>
              <a:rPr lang="en-US" sz="1100" dirty="0" err="1"/>
              <a:t>thái</a:t>
            </a:r>
            <a:r>
              <a:rPr lang="en-US" sz="1100" dirty="0"/>
              <a:t> </a:t>
            </a:r>
            <a:r>
              <a:rPr lang="en-US" sz="1100" dirty="0" err="1"/>
              <a:t>đã</a:t>
            </a:r>
            <a:r>
              <a:rPr lang="en-US" sz="1100" dirty="0"/>
              <a:t> </a:t>
            </a:r>
            <a:r>
              <a:rPr lang="en-US" sz="1100" dirty="0" err="1"/>
              <a:t>tính</a:t>
            </a:r>
            <a:r>
              <a:rPr lang="en-US" sz="1100" dirty="0"/>
              <a:t> </a:t>
            </a:r>
            <a:r>
              <a:rPr lang="en-US" sz="1100" dirty="0" err="1"/>
              <a:t>và</a:t>
            </a:r>
            <a:r>
              <a:rPr lang="en-US" sz="1100" dirty="0"/>
              <a:t> </a:t>
            </a:r>
            <a:r>
              <a:rPr lang="en-US" sz="1100" dirty="0" err="1"/>
              <a:t>tận</a:t>
            </a:r>
            <a:r>
              <a:rPr lang="en-US" sz="1100" dirty="0"/>
              <a:t> </a:t>
            </a:r>
            <a:r>
              <a:rPr lang="en-US" sz="1100" dirty="0" err="1"/>
              <a:t>dụng</a:t>
            </a:r>
            <a:r>
              <a:rPr lang="en-US" sz="1100" dirty="0"/>
              <a:t> </a:t>
            </a:r>
            <a:r>
              <a:rPr lang="en-US" sz="1100" dirty="0" err="1"/>
              <a:t>đối</a:t>
            </a:r>
            <a:r>
              <a:rPr lang="en-US" sz="1100" dirty="0"/>
              <a:t> </a:t>
            </a:r>
            <a:r>
              <a:rPr lang="en-US" sz="1100" dirty="0" err="1"/>
              <a:t>xứng</a:t>
            </a:r>
            <a:r>
              <a:rPr lang="en-US" sz="1100" dirty="0"/>
              <a:t> </a:t>
            </a:r>
            <a:r>
              <a:rPr lang="en-US" sz="1100" dirty="0" err="1"/>
              <a:t>để</a:t>
            </a:r>
            <a:r>
              <a:rPr lang="en-US" sz="1100" dirty="0"/>
              <a:t> </a:t>
            </a:r>
            <a:r>
              <a:rPr lang="en-US" sz="1100" dirty="0" err="1"/>
              <a:t>giảm</a:t>
            </a:r>
            <a:r>
              <a:rPr lang="en-US" sz="1100" dirty="0"/>
              <a:t> </a:t>
            </a:r>
            <a:r>
              <a:rPr lang="en-US" sz="1100" dirty="0" err="1"/>
              <a:t>lặp</a:t>
            </a:r>
            <a:r>
              <a:rPr lang="en-US" sz="1100" dirty="0"/>
              <a:t> </a:t>
            </a:r>
            <a:r>
              <a:rPr lang="en-US" sz="1100" dirty="0" err="1"/>
              <a:t>lại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79144" y="2414016"/>
            <a:ext cx="311339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9144" y="2414016"/>
            <a:ext cx="50292" cy="10972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2" name="Text 30"/>
          <p:cNvSpPr/>
          <p:nvPr/>
        </p:nvSpPr>
        <p:spPr>
          <a:xfrm>
            <a:off x="4543736" y="25054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Week4 Opening book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43736" y="2889504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</a:rPr>
              <a:t>Sách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khai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cuộc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chọn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nước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đi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tốt</a:t>
            </a:r>
            <a:r>
              <a:rPr lang="en-US" sz="1100" dirty="0">
                <a:solidFill>
                  <a:srgbClr val="475569"/>
                </a:solidFill>
              </a:rPr>
              <a:t>  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1626" y="3621024"/>
            <a:ext cx="3089565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1627" y="3621024"/>
            <a:ext cx="50292" cy="10972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6" name="Text 34"/>
          <p:cNvSpPr/>
          <p:nvPr/>
        </p:nvSpPr>
        <p:spPr>
          <a:xfrm>
            <a:off x="1076219" y="371246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Win/Block Filter + Threat Heuristic</a:t>
            </a:r>
            <a:endParaRPr lang="en-US" sz="1150" b="1" dirty="0"/>
          </a:p>
        </p:txBody>
      </p:sp>
      <p:sp>
        <p:nvSpPr>
          <p:cNvPr id="37" name="Text 35"/>
          <p:cNvSpPr/>
          <p:nvPr/>
        </p:nvSpPr>
        <p:spPr>
          <a:xfrm>
            <a:off x="1076219" y="40965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</a:rPr>
              <a:t>Phát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hiện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nước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thắng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ngay</a:t>
            </a:r>
            <a:r>
              <a:rPr lang="en-US" sz="1100" dirty="0">
                <a:solidFill>
                  <a:srgbClr val="475569"/>
                </a:solidFill>
              </a:rPr>
              <a:t>, </a:t>
            </a:r>
            <a:r>
              <a:rPr lang="en-US" sz="1100" dirty="0" err="1">
                <a:solidFill>
                  <a:srgbClr val="475569"/>
                </a:solidFill>
              </a:rPr>
              <a:t>nước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cần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chặn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mà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mối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nguy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hiểm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trước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khi</a:t>
            </a:r>
            <a:r>
              <a:rPr lang="en-US" sz="1100" dirty="0">
                <a:solidFill>
                  <a:srgbClr val="475569"/>
                </a:solidFill>
              </a:rPr>
              <a:t> search </a:t>
            </a:r>
            <a:r>
              <a:rPr lang="en-US" sz="1100" dirty="0" err="1">
                <a:solidFill>
                  <a:srgbClr val="475569"/>
                </a:solidFill>
              </a:rPr>
              <a:t>sâu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79694" y="3621024"/>
            <a:ext cx="3112843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85033" y="3621024"/>
            <a:ext cx="50292" cy="10972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0" name="Text 38"/>
          <p:cNvSpPr/>
          <p:nvPr/>
        </p:nvSpPr>
        <p:spPr>
          <a:xfrm>
            <a:off x="4544287" y="371246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D1B2A"/>
                </a:solidFill>
              </a:rPr>
              <a:t>Negamax</a:t>
            </a:r>
            <a:r>
              <a:rPr lang="en-US" sz="1150" b="1" dirty="0">
                <a:solidFill>
                  <a:srgbClr val="0D1B2A"/>
                </a:solidFill>
              </a:rPr>
              <a:t> + Alpha-Beta + ID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44287" y="40965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Search </a:t>
            </a:r>
            <a:r>
              <a:rPr lang="en-US" sz="1100" dirty="0" err="1">
                <a:solidFill>
                  <a:srgbClr val="475569"/>
                </a:solidFill>
              </a:rPr>
              <a:t>chính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để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tìm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nước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tốt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nhất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hỗ trợ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10972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kỹ thuật nền — không thay đổi logic AI nhưng tăng tốc đáng kể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" y="1444752"/>
            <a:ext cx="4279392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44752"/>
            <a:ext cx="54864" cy="170078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53619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Bitboard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toàn bộ trạng thái bàn cờ bằng 2 số nguyên 64-bit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thắng = AND/SHIFT thay vì vòng lặp Python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nước hợp lệ bằng bit mask — nhanh hơn nhiều lần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1444752"/>
            <a:ext cx="4279392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444752"/>
            <a:ext cx="54864" cy="170078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53619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Transposition Table + Symmetry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9744" y="1901952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(state, depth, score, bound, best_move) vào dict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trước khi search — tránh tính lại trạng thái cũ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đối xứng ngang bàn cờ → giảm ~50% TT entries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3255264"/>
            <a:ext cx="4279392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3255264"/>
            <a:ext cx="54864" cy="170078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34670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Move Ordering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712464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ưu tiên: TT move → Killer → History → Counter → Center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ordering tốt → Alpha-Beta cắt nhiều nhánh hơn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heuristic: lưu 2 nước gây beta-cutoff gần nhất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3255264"/>
            <a:ext cx="4279392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3255264"/>
            <a:ext cx="54864" cy="170078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3346704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Opening Book (WeakC4)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9744" y="3712464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nước tối ưu từ lý thuyết Connect4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hoàn toàn search ở early game (tiết kiệm thời gian)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áp dụng với bàn chuẩn 6×7/K=4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Alpha-Beta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7" y="1199250"/>
            <a:ext cx="3823321" cy="3429000"/>
          </a:xfrm>
          <a:prstGeom prst="rect">
            <a:avLst/>
          </a:prstGeom>
          <a:solidFill>
            <a:srgbClr val="162236"/>
          </a:solidFill>
          <a:ln w="635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5411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6"/>
                </a:solidFill>
              </a:rPr>
              <a:t>Pseudocode — Negamax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" y="1656450"/>
            <a:ext cx="4041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negamax(pos, depth, α, β):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depth == 0 or game_over(pos):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evaluate(pos)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move in ordered_moves(pos):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pos.play(move)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-negamax(pos,depth-1,-β,-α)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pos.undo(move)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α = max(α, score)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α &gt;= β: break  # cutoff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3782" y="1199250"/>
            <a:ext cx="43342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09429" y="1199250"/>
            <a:ext cx="4334256" cy="38404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70910" y="119925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6936" y="173985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Ý </a:t>
            </a:r>
            <a:r>
              <a:rPr lang="en-US" sz="1100" dirty="0" err="1">
                <a:solidFill>
                  <a:srgbClr val="475569"/>
                </a:solidFill>
              </a:rPr>
              <a:t>tưởng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chính</a:t>
            </a:r>
            <a:r>
              <a:rPr lang="en-US" sz="1100" dirty="0">
                <a:solidFill>
                  <a:srgbClr val="475569"/>
                </a:solidFill>
              </a:rPr>
              <a:t>: </a:t>
            </a:r>
            <a:r>
              <a:rPr lang="en-US" sz="1100" dirty="0" err="1">
                <a:solidFill>
                  <a:srgbClr val="475569"/>
                </a:solidFill>
              </a:rPr>
              <a:t>Điểm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tốt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của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mình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là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điểm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xấu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của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đối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thủ</a:t>
            </a:r>
            <a:r>
              <a:rPr lang="en-US" sz="1100" dirty="0">
                <a:solidFill>
                  <a:srgbClr val="475569"/>
                </a:solidFill>
              </a:rPr>
              <a:t>, </a:t>
            </a:r>
            <a:r>
              <a:rPr lang="en-US" sz="1100" dirty="0" err="1">
                <a:solidFill>
                  <a:srgbClr val="475569"/>
                </a:solidFill>
              </a:rPr>
              <a:t>thay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vì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dùng</a:t>
            </a:r>
            <a:r>
              <a:rPr lang="en-US" sz="1100" dirty="0">
                <a:solidFill>
                  <a:srgbClr val="475569"/>
                </a:solidFill>
              </a:rPr>
              <a:t> 2 </a:t>
            </a:r>
            <a:r>
              <a:rPr lang="en-US" sz="1100" dirty="0" err="1">
                <a:solidFill>
                  <a:srgbClr val="475569"/>
                </a:solidFill>
              </a:rPr>
              <a:t>hàm</a:t>
            </a:r>
            <a:r>
              <a:rPr lang="en-US" sz="1100" dirty="0">
                <a:solidFill>
                  <a:srgbClr val="475569"/>
                </a:solidFill>
              </a:rPr>
              <a:t> max, min </a:t>
            </a:r>
            <a:r>
              <a:rPr lang="en-US" sz="1100" dirty="0" err="1">
                <a:solidFill>
                  <a:srgbClr val="475569"/>
                </a:solidFill>
              </a:rPr>
              <a:t>thì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chỉ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dùng</a:t>
            </a:r>
            <a:r>
              <a:rPr lang="en-US" sz="1100" dirty="0">
                <a:solidFill>
                  <a:srgbClr val="475569"/>
                </a:solidFill>
              </a:rPr>
              <a:t> 1 </a:t>
            </a:r>
            <a:r>
              <a:rPr lang="en-US" sz="1100" dirty="0" err="1">
                <a:solidFill>
                  <a:srgbClr val="475569"/>
                </a:solidFill>
              </a:rPr>
              <a:t>hàm</a:t>
            </a:r>
            <a:r>
              <a:rPr lang="en-US" sz="1100" dirty="0">
                <a:solidFill>
                  <a:srgbClr val="475569"/>
                </a:solidFill>
              </a:rPr>
              <a:t> score </a:t>
            </a:r>
            <a:r>
              <a:rPr lang="en-US" sz="1100" dirty="0" err="1">
                <a:solidFill>
                  <a:srgbClr val="475569"/>
                </a:solidFill>
              </a:rPr>
              <a:t>duy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nhất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để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xử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en-US" sz="1100" dirty="0" err="1">
                <a:solidFill>
                  <a:srgbClr val="475569"/>
                </a:solidFill>
              </a:rPr>
              <a:t>lý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80054" y="204049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0054" y="244283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3782" y="2419556"/>
            <a:ext cx="4334256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3782" y="2419556"/>
            <a:ext cx="433425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303782" y="2397390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Alpha-Beta Pruning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95222" y="2827434"/>
            <a:ext cx="4169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điểm tốt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(maximizer)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(minimizer)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α ≥ β →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endParaRPr lang="en-US" sz="115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 ordering tốt: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mạnh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b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O(b^d) → O(b^(d/2))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0" y="460081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12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A59DE7-427E-3896-AB62-68A7A98F8046}"/>
              </a:ext>
            </a:extLst>
          </p:cNvPr>
          <p:cNvSpPr txBox="1"/>
          <p:nvPr/>
        </p:nvSpPr>
        <p:spPr>
          <a:xfrm>
            <a:off x="6100783" y="1222554"/>
            <a:ext cx="778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</a:rPr>
              <a:t>Negamax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27A47E-79E8-7B61-D8C7-15D00E1DEFFE}"/>
              </a:ext>
            </a:extLst>
          </p:cNvPr>
          <p:cNvSpPr txBox="1"/>
          <p:nvPr/>
        </p:nvSpPr>
        <p:spPr>
          <a:xfrm>
            <a:off x="4024488" y="4291354"/>
            <a:ext cx="5079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US" sz="1200" dirty="0" err="1">
                <a:sym typeface="Wingdings" panose="05000000000000000000" pitchFamily="2" charset="2"/>
              </a:rPr>
              <a:t>Kết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hợp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này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giúp</a:t>
            </a:r>
            <a:r>
              <a:rPr lang="en-US" sz="1200" dirty="0">
                <a:sym typeface="Wingdings" panose="05000000000000000000" pitchFamily="2" charset="2"/>
              </a:rPr>
              <a:t> search </a:t>
            </a:r>
            <a:r>
              <a:rPr lang="en-US" sz="1200" dirty="0" err="1">
                <a:sym typeface="Wingdings" panose="05000000000000000000" pitchFamily="2" charset="2"/>
              </a:rPr>
              <a:t>nhanh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chất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lượng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nước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giảm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Deepening + PVS + LMR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kỹ </a:t>
            </a:r>
            <a:r>
              <a:rPr lang="en-US" sz="125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</a:t>
            </a: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 sâu hơn trong cùng giới hạn thời gian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2880" y="1426464"/>
            <a:ext cx="2834640" cy="353706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26464"/>
            <a:ext cx="2834640" cy="43891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4264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Iterative Deepening (ID)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" y="980902"/>
            <a:ext cx="2596896" cy="391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sâu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dần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endParaRPr lang="en-US" sz="115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Depth1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depth2  depth3  ….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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Luôn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có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nước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đi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dự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phòng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,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không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bỏ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sót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và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search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ngày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càng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sâu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hơn</a:t>
            </a:r>
            <a:endParaRPr lang="en-US" sz="115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  <a:p>
            <a:pPr>
              <a:spcAft>
                <a:spcPts val="500"/>
              </a:spcAft>
              <a:buSzPct val="100000"/>
            </a:pPr>
            <a:endParaRPr lang="en-US" sz="115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1426464"/>
            <a:ext cx="2834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426464"/>
            <a:ext cx="2834640" cy="438912"/>
          </a:xfrm>
          <a:prstGeom prst="rect">
            <a:avLst/>
          </a:prstGeom>
          <a:solidFill>
            <a:srgbClr val="008B80"/>
          </a:solidFill>
          <a:ln/>
        </p:spPr>
      </p:sp>
      <p:sp>
        <p:nvSpPr>
          <p:cNvPr id="12" name="Text 10"/>
          <p:cNvSpPr/>
          <p:nvPr/>
        </p:nvSpPr>
        <p:spPr>
          <a:xfrm>
            <a:off x="3182112" y="14264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Principal Variation Search (PVS)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596896" cy="253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trên giả định: nước đầu tiên (sau ordering) thường là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endParaRPr lang="en-US" sz="115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Search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kỹ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nước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đầu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tiên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,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các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nước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còn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lại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sẽ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được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kiểm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tra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nhanh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,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nếu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phát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hiện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nước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sau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có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vẻ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tốt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hơn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dự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kiến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mới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search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lại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toàn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bộ</a:t>
            </a:r>
            <a:endParaRPr lang="en-US" sz="115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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Tập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trung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search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kỹ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vào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nhánh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có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khả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năng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là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tốt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nhất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426464"/>
            <a:ext cx="2834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426464"/>
            <a:ext cx="28346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4264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 Move Reduction (LMR)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1823258"/>
            <a:ext cx="2596896" cy="284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vi-V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iảm độ sâu với các nước đi xét muộn</a:t>
            </a:r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Vì sau khi đã move ordering tốt, các nước được xét muộn thường ít hứa hẹn hơn.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 tốt đầu tiên → search depth 6</a:t>
            </a:r>
            <a:b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Nước thứ 5, 6, 7 → chỉ search depth 4 hoặc 5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Nếu nước xét muộn bất ngờ cho kết quả rất tốt, thuật toán sẽ search lại với full depth.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Không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tốn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thời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gian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cho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các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nước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đi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có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khả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năng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kém</a:t>
            </a:r>
            <a:endParaRPr lang="vi-V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6858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18347" y="45734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Threat-based Heuristic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19177" y="1505157"/>
            <a:ext cx="3633770" cy="303913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8347" y="1432006"/>
            <a:ext cx="3633770" cy="40233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432006"/>
            <a:ext cx="37113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Window-counting (cũ)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3803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chuỗi 2/3/4 quân trong window bất kỳ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điểm bất kể ô có thực sự đánh được không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phân biệt lượt chẵn/lẻ — dễ đánh giá sai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949910"/>
            <a:ext cx="3409881" cy="877824"/>
          </a:xfrm>
          <a:prstGeom prst="rect">
            <a:avLst/>
          </a:prstGeom>
          <a:noFill/>
          <a:ln w="635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Ví dụ vấn đề: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42518"/>
            <a:ext cx="31560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X X X _   (ô trái bị chặn bởi quân O bên ngoài)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Window-counting vẫn cộng điểm cao → đánh giá sai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" y="4010614"/>
            <a:ext cx="34098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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Hạn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chế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thực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chiến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: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Đánh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giá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các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threat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ảo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,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không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mang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tính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tấn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công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đối</a:t>
            </a:r>
            <a:r>
              <a:rPr lang="en-US" sz="1150" i="1" dirty="0">
                <a:solidFill>
                  <a:srgbClr val="475569"/>
                </a:solidFill>
                <a:sym typeface="Wingdings" panose="05000000000000000000" pitchFamily="2" charset="2"/>
              </a:rPr>
              <a:t> </a:t>
            </a:r>
            <a:r>
              <a:rPr lang="en-US" sz="1150" i="1" dirty="0" err="1">
                <a:solidFill>
                  <a:srgbClr val="475569"/>
                </a:solidFill>
                <a:sym typeface="Wingdings" panose="05000000000000000000" pitchFamily="2" charset="2"/>
              </a:rPr>
              <a:t>thủ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1426464"/>
            <a:ext cx="4480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8848" y="1426464"/>
            <a:ext cx="4480560" cy="40233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4498848" y="142646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Threat-based (mới)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35424" y="1901952"/>
            <a:ext cx="4407408" cy="530352"/>
          </a:xfrm>
          <a:prstGeom prst="rect">
            <a:avLst/>
          </a:prstGeom>
          <a:solidFill>
            <a:srgbClr val="E0F7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08B80"/>
                </a:solidFill>
              </a:rPr>
              <a:t>Nước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đánh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được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08192" y="1975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00" dirty="0"/>
              <a:t>Ô cần đánh phải là ô có thể thả quân vào ngay, không bị “lơ lửng”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35424" y="2505456"/>
            <a:ext cx="4407408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2578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08B80"/>
                </a:solidFill>
              </a:rPr>
              <a:t>Nước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có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ích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08192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00" dirty="0"/>
              <a:t>Threat phải thật sự tạo cơ hội thắng hoặc ép đối thủ phải chặn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35424" y="3108960"/>
            <a:ext cx="4407408" cy="530352"/>
          </a:xfrm>
          <a:prstGeom prst="rect">
            <a:avLst/>
          </a:prstGeom>
          <a:solidFill>
            <a:srgbClr val="E0F7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08B80"/>
                </a:solidFill>
              </a:rPr>
              <a:t>Luật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chẵn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lẻ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08192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00" dirty="0"/>
              <a:t>Xét xem với lượt đi hiện tại, ai có khả năng chiếm ô thắng trước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35424" y="3712464"/>
            <a:ext cx="4407408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785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B80"/>
                </a:solidFill>
              </a:rPr>
              <a:t>Fork threat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08192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00" dirty="0"/>
              <a:t>Tạo 2 đường thắng cùng lúc, khiến đối thủ chỉ chặn được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35424" y="4315968"/>
            <a:ext cx="4407408" cy="530352"/>
          </a:xfrm>
          <a:prstGeom prst="rect">
            <a:avLst/>
          </a:prstGeom>
          <a:solidFill>
            <a:srgbClr val="E0F7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08B80"/>
                </a:solidFill>
              </a:rPr>
              <a:t>Kiểm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soát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cột</a:t>
            </a:r>
            <a:r>
              <a:rPr lang="en-US" sz="1150" b="1" dirty="0">
                <a:solidFill>
                  <a:srgbClr val="008B80"/>
                </a:solidFill>
              </a:rPr>
              <a:t> </a:t>
            </a:r>
            <a:r>
              <a:rPr lang="en-US" sz="1150" b="1" dirty="0" err="1">
                <a:solidFill>
                  <a:srgbClr val="008B80"/>
                </a:solidFill>
              </a:rPr>
              <a:t>giữa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08192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00" dirty="0"/>
              <a:t>Ưu tiên cột giữa vì tạo được nhiều hướng thắng hơn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 / 12</a:t>
            </a:r>
            <a:endParaRPr lang="en-US" sz="9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E2DC077-2B48-C81D-6721-C5DCFCA475B2}"/>
              </a:ext>
            </a:extLst>
          </p:cNvPr>
          <p:cNvSpPr/>
          <p:nvPr/>
        </p:nvSpPr>
        <p:spPr>
          <a:xfrm>
            <a:off x="292608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</a:t>
            </a:r>
            <a:r>
              <a:rPr lang="en-US" sz="125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window-counting </a:t>
            </a:r>
            <a:r>
              <a:rPr lang="en-US" sz="125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Monte Carlos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gốc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06986"/>
              </p:ext>
            </p:extLst>
          </p:nvPr>
        </p:nvGraphicFramePr>
        <p:xfrm>
          <a:off x="201168" y="1426464"/>
          <a:ext cx="8741664" cy="26883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Negamax +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hoạt động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phỏng ngẫu nhiên (rollout)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đối kháng tất định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 ổn định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động theo 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Ổn định, kết quả nhất quán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sâu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Giới hạn bởi thời gian 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soát tốt qua ID + LMR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thuộc 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heuristic ảnh hưởng lớn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dùng heuristic ở leaf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 game ngắn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— cần nhiều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 — search sâu trong thời gian ngắn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275513"/>
            <a:ext cx="4114800" cy="347472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9184" y="4302945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</a:rPr>
              <a:t>MCTS: Selection (UCT) → Expansion → Rollout (random) → Backprop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62272" y="4275513"/>
            <a:ext cx="4443984" cy="347472"/>
          </a:xfrm>
          <a:prstGeom prst="rect">
            <a:avLst/>
          </a:prstGeom>
          <a:solidFill>
            <a:srgbClr val="E0F7F5"/>
          </a:solidFill>
          <a:ln w="6350">
            <a:solidFill>
              <a:srgbClr val="00B4A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626864" y="4302945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B80"/>
                </a:solidFill>
              </a:rPr>
              <a:t>Negamax: Root → ID depth 1→N → AB Pruning → Best Move</a:t>
            </a:r>
            <a:endParaRPr lang="en-US" sz="1100" dirty="0"/>
          </a:p>
        </p:txBody>
      </p:sp>
      <p:sp>
        <p:nvSpPr>
          <p:cNvPr id="6" name="Text 8"/>
          <p:cNvSpPr/>
          <p:nvPr/>
        </p:nvSpPr>
        <p:spPr>
          <a:xfrm>
            <a:off x="8028432" y="478369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4630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</a:t>
            </a: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C6A3C-0F0E-18BE-51D2-536719B5D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43" y="804672"/>
            <a:ext cx="6061625" cy="3974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6173C0-32D1-CB57-998C-2A5482429B0B}"/>
              </a:ext>
            </a:extLst>
          </p:cNvPr>
          <p:cNvSpPr txBox="1"/>
          <p:nvPr/>
        </p:nvSpPr>
        <p:spPr>
          <a:xfrm>
            <a:off x="201168" y="1572090"/>
            <a:ext cx="2625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Xếp</a:t>
            </a:r>
            <a:r>
              <a:rPr lang="en-US" sz="1400" dirty="0"/>
              <a:t> </a:t>
            </a:r>
            <a:r>
              <a:rPr lang="en-US" sz="1400" dirty="0" err="1"/>
              <a:t>hạng</a:t>
            </a:r>
            <a:r>
              <a:rPr lang="en-US" sz="1400" dirty="0"/>
              <a:t> </a:t>
            </a:r>
            <a:r>
              <a:rPr lang="en-US" sz="1400" dirty="0" err="1"/>
              <a:t>thứ</a:t>
            </a:r>
            <a:r>
              <a:rPr lang="en-US" sz="1400" dirty="0"/>
              <a:t> 10 </a:t>
            </a:r>
            <a:r>
              <a:rPr lang="en-US" sz="1400" dirty="0" err="1"/>
              <a:t>trong</a:t>
            </a:r>
            <a:r>
              <a:rPr lang="en-US" sz="1400" dirty="0"/>
              <a:t> leaderboard competition</a:t>
            </a:r>
          </a:p>
          <a:p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đến</a:t>
            </a:r>
            <a:r>
              <a:rPr lang="en-US" sz="1400" dirty="0"/>
              <a:t> 9h00 </a:t>
            </a:r>
            <a:r>
              <a:rPr lang="en-US" sz="1400" dirty="0" err="1"/>
              <a:t>sáng</a:t>
            </a:r>
            <a:r>
              <a:rPr lang="en-US" sz="1400" dirty="0"/>
              <a:t> 4/6/2026.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6223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743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16736"/>
            <a:ext cx="4023360" cy="1755648"/>
          </a:xfrm>
          <a:prstGeom prst="rect">
            <a:avLst/>
          </a:prstGeom>
          <a:solidFill>
            <a:srgbClr val="162236"/>
          </a:solidFill>
          <a:ln w="6350">
            <a:solidFill>
              <a:srgbClr val="1A2E4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" y="1371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</a:rPr>
              <a:t>Thuật toán gốc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7190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+ Minimax: linh hoạt, dễ prototype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đơn giản, phù hợp bàn cờ bất kỳ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ổn định do rollout ngẫu nhiên &amp; depth cố định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2272" y="1316736"/>
            <a:ext cx="4407408" cy="1755648"/>
          </a:xfrm>
          <a:prstGeom prst="rect">
            <a:avLst/>
          </a:prstGeom>
          <a:solidFill>
            <a:srgbClr val="162236"/>
          </a:solidFill>
          <a:ln w="6350">
            <a:solidFill>
              <a:srgbClr val="1A2E4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371600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</a:rPr>
              <a:t>Phiên bản cải tiến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1719072"/>
            <a:ext cx="4133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 + AB + ID: search sâu, ổn định hơn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Bitboard + TT + Move Ordering: tốc độ vượt trội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Threat-based Heuristic: đánh giá chính xác hơn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182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</a:rPr>
              <a:t>Hướng phát triển tiếp theo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547872"/>
            <a:ext cx="64008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số liệu thực nghiệm thật (chạy evaluate.py)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từng cải tiến riêng lẻ để đo tác động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trọng số heuristic bằng self-play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RL / neural heuristic thay thế eval function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1591</Words>
  <Application>Microsoft Office PowerPoint</Application>
  <PresentationFormat>On-screen Show (16:9)</PresentationFormat>
  <Paragraphs>246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triển AI Agent chơi ConnectX — v2</dc:title>
  <dc:subject>PptxGenJS Presentation</dc:subject>
  <dc:creator>PptxGenJS</dc:creator>
  <cp:lastModifiedBy>Nguyễn Khắc Tùng</cp:lastModifiedBy>
  <cp:revision>4</cp:revision>
  <dcterms:created xsi:type="dcterms:W3CDTF">2026-06-02T04:42:56Z</dcterms:created>
  <dcterms:modified xsi:type="dcterms:W3CDTF">2026-06-04T02:37:51Z</dcterms:modified>
</cp:coreProperties>
</file>